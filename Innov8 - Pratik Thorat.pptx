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0725912" cy="329184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</a:defRPr>
            </a:pPr>
            <a:r>
              <a:t>EUREKA 2026 · STARTUP PITCH COMPETITION</a:t>
            </a:r>
          </a:p>
          <a:p>
            <a:pPr>
              <a:spcBef>
                <a:spcPts val="400"/>
              </a:spcBef>
              <a:defRPr sz="5600" b="1">
                <a:solidFill>
                  <a:srgbClr val="FFFFFF"/>
                </a:solidFill>
              </a:defRPr>
            </a:pPr>
            <a:r>
              <a:t>NESTRO</a:t>
            </a:r>
          </a:p>
          <a:p>
            <a:pPr>
              <a:spcBef>
                <a:spcPts val="400"/>
              </a:spcBef>
              <a:defRPr sz="1700">
                <a:solidFill>
                  <a:srgbClr val="FEE2E2"/>
                </a:solidFill>
              </a:defRPr>
            </a:pPr>
            <a:r>
              <a:t>India's 1st AI-Powered, 0% Brokerage Student Housing Platform</a:t>
            </a:r>
          </a:p>
          <a:p>
            <a:pPr>
              <a:spcBef>
                <a:spcPts val="1200"/>
              </a:spcBef>
              <a:defRPr sz="1150" b="1">
                <a:solidFill>
                  <a:srgbClr val="BBF7D0"/>
                </a:solidFill>
              </a:defRPr>
            </a:pPr>
            <a:r>
              <a:t>⚡ Real-Time Cloud Firestore Sync · 🛡️ Escrow Deposit Guarantee · 🤖 NEST AI Assistant</a:t>
            </a:r>
          </a:p>
        </p:txBody>
      </p:sp>
      <p:pic>
        <p:nvPicPr>
          <p:cNvPr id="4" name="Picture 3" descr="nest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822960"/>
            <a:ext cx="30175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160520"/>
            <a:ext cx="10725912" cy="2194560"/>
          </a:xfrm>
          <a:prstGeom prst="roundRect">
            <a:avLst/>
          </a:prstGeom>
          <a:solidFill>
            <a:srgbClr val="1A080D"/>
          </a:solidFill>
          <a:ln>
            <a:solidFill>
              <a:srgbClr val="5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500" b="1">
                <a:solidFill>
                  <a:srgbClr val="FEF08A"/>
                </a:solidFill>
              </a:defRPr>
            </a:pPr>
            <a:r>
              <a:t>⚡ TEAM VELORA  (Velocity + Aura)</a:t>
            </a:r>
          </a:p>
          <a:p>
            <a:pPr>
              <a:spcBef>
                <a:spcPts val="300"/>
              </a:spcBef>
              <a:defRPr sz="1150">
                <a:solidFill>
                  <a:srgbClr val="DCC8CD"/>
                </a:solidFill>
              </a:defRPr>
            </a:pPr>
            <a:r>
              <a:t>Department: Integrated M.Tech in Artificial Intelligence &amp; Machine Learning (AI-ML) — First Year · Sanjivani University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👑 Samruddhi Rajesh Gangad (Team Leader &amp; UX Lead)   |   💻 Pratik Thorat (Full-Stack &amp; AI Lead)</a:t>
            </a:r>
            <a:br/>
            <a:r>
              <a:t>📊 Kirti Honde (Market Analysis &amp; Relations)           |   🏢 Parth Pachpute (Operations &amp; Host Lead)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The Problem: The Student &amp; Parent Housing Crisis in College Hubs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5B1526"/>
                </a:solidFill>
              </a:defRPr>
            </a:pPr>
            <a:r>
              <a:t>CRITICAL FLAW 01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💸 ₹5,000+ Brokerage Extortion</a:t>
            </a:r>
          </a:p>
          <a:p>
            <a:pPr>
              <a:spcBef>
                <a:spcPts val="600"/>
              </a:spcBef>
              <a:defRPr sz="1150" b="1">
                <a:solidFill>
                  <a:srgbClr val="D97706"/>
                </a:solidFill>
              </a:defRPr>
            </a:pPr>
            <a:r>
              <a:t>Impact: 15–30 Days Rent Lost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Local offline brokers charge exorbitant 1-month brokerage just to give basic contact numbers. Middle-class student families lose ₹5,000+ before their semester even starts.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240C12"/>
                </a:solidFill>
              </a:defRPr>
            </a:pPr>
            <a:r>
              <a:t>CRITICAL FLAW 02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📸 Fake Photos &amp; Zero Hygiene</a:t>
            </a:r>
          </a:p>
          <a:p>
            <a:pPr>
              <a:spcBef>
                <a:spcPts val="600"/>
              </a:spcBef>
              <a:defRPr sz="1150" b="1">
                <a:solidFill>
                  <a:srgbClr val="D97706"/>
                </a:solidFill>
              </a:defRPr>
            </a:pPr>
            <a:r>
              <a:t>Impact: 90% Information Asymmetry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Misleading listings with photos taken 5 years ago. Broken bathrooms, undisclosed curfew lockdowns, and zero anti-ragging compliance on 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B42828"/>
                </a:solidFill>
              </a:defRPr>
            </a:pPr>
            <a:r>
              <a:t>CRITICAL FLAW 03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🔒 Deposit Theft &amp; Eviction Fears</a:t>
            </a:r>
          </a:p>
          <a:p>
            <a:pPr>
              <a:spcBef>
                <a:spcPts val="600"/>
              </a:spcBef>
              <a:defRPr sz="1150" b="1">
                <a:solidFill>
                  <a:srgbClr val="D97706"/>
                </a:solidFill>
              </a:defRPr>
            </a:pPr>
            <a:r>
              <a:t>Impact: ₹10,000 Security Lost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Landlords routinely refuse to refund security deposits upon move-out citing fake maintenance charges. Students have zero legal contracts or escrow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The Solution: NESTRO — India's 1st 0% Brokerage AI Housing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5B1526"/>
                </a:solidFill>
              </a:defRPr>
            </a:pPr>
            <a:r>
              <a:t>CORE PILLAR 01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🎓 100% Zero Brokerage</a:t>
            </a:r>
          </a:p>
          <a:p>
            <a:pPr>
              <a:spcBef>
                <a:spcPts val="600"/>
              </a:spcBef>
              <a:defRPr sz="1150" b="1">
                <a:solidFill>
                  <a:srgbClr val="15803D"/>
                </a:solidFill>
              </a:defRPr>
            </a:pPr>
            <a:r>
              <a:t>Value: Saves ₹5,000 Instantly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Students explore, compare, and visit stays completely free. No middleman cuts, no hidden viewing fees. 100% transparent pricing directly from hostel owners.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240C12"/>
                </a:solidFill>
              </a:defRPr>
            </a:pPr>
            <a:r>
              <a:t>CORE PILLAR 02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🤖 NEST AI Campus Matchmaker</a:t>
            </a:r>
          </a:p>
          <a:p>
            <a:pPr>
              <a:spcBef>
                <a:spcPts val="600"/>
              </a:spcBef>
              <a:defRPr sz="1150" b="1">
                <a:solidFill>
                  <a:srgbClr val="15803D"/>
                </a:solidFill>
              </a:defRPr>
            </a:pPr>
            <a:r>
              <a:t>Value: &lt; 2-Second Matching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Understands conversational queries in Hindi, Marathi &amp; English. Matches students by budget, room sharing, food taste, and exact walking distance to Sanjivani University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CORE PILLAR 03</a:t>
            </a:r>
          </a:p>
          <a:p>
            <a:pPr>
              <a:spcBef>
                <a:spcPts val="600"/>
              </a:spcBef>
              <a:defRPr sz="1600" b="1">
                <a:solidFill>
                  <a:srgbClr val="240C12"/>
                </a:solidFill>
              </a:defRPr>
            </a:pPr>
            <a:r>
              <a:t>🛡️ Escrow Deposit Guarantee</a:t>
            </a:r>
          </a:p>
          <a:p>
            <a:pPr>
              <a:spcBef>
                <a:spcPts val="600"/>
              </a:spcBef>
              <a:defRPr sz="1150" b="1">
                <a:solidFill>
                  <a:srgbClr val="15803D"/>
                </a:solidFill>
              </a:defRPr>
            </a:pPr>
            <a:r>
              <a:t>Value: 100% Money-Back Safety</a:t>
            </a:r>
          </a:p>
          <a:p>
            <a:pPr>
              <a:spcBef>
                <a:spcPts val="1200"/>
              </a:spcBef>
              <a:defRPr sz="1250">
                <a:solidFill>
                  <a:srgbClr val="785A5F"/>
                </a:solidFill>
              </a:defRPr>
            </a:pPr>
            <a:r>
              <a:t>Advance deposits remain locked in a bank-grade escrow account. Released to the owner ONLY after physical room check-in. Comes with a free Digital Tenancy Agreement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Product Live &amp; Deployed: https://nestro.web.app/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846320" cy="4663440"/>
          </a:xfrm>
          <a:prstGeom prst="roundRect">
            <a:avLst/>
          </a:prstGeom>
          <a:solidFill>
            <a:srgbClr val="5B1526"/>
          </a:solidFill>
          <a:ln>
            <a:solidFill>
              <a:srgbClr val="5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FEF08A"/>
                </a:solidFill>
              </a:defRPr>
            </a:pPr>
            <a:r>
              <a:t>⚡ PRODUCTION LIVE ARCHITECTURE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Built on Google Cloud &amp; Firebase</a:t>
            </a:r>
          </a:p>
          <a:p>
            <a:pPr>
              <a:spcBef>
                <a:spcPts val="800"/>
              </a:spcBef>
              <a:defRPr sz="1150">
                <a:solidFill>
                  <a:srgbClr val="F5E6EB"/>
                </a:solidFill>
              </a:defRPr>
            </a:pPr>
            <a:r>
              <a:t>🔥 Cloud Firestore: Real-time two-way synchronization for active hostel beds &amp; waitlists.</a:t>
            </a:r>
          </a:p>
          <a:p>
            <a:pPr>
              <a:spcBef>
                <a:spcPts val="800"/>
              </a:spcBef>
              <a:defRPr sz="1150">
                <a:solidFill>
                  <a:srgbClr val="F5E6EB"/>
                </a:solidFill>
              </a:defRPr>
            </a:pPr>
            <a:r>
              <a:t>🔒 Firebase Enterprise Auth: Secure phone/email student authentication with SSL encryption.</a:t>
            </a:r>
          </a:p>
          <a:p>
            <a:pPr>
              <a:spcBef>
                <a:spcPts val="800"/>
              </a:spcBef>
              <a:defRPr sz="1150">
                <a:solidFill>
                  <a:srgbClr val="F5E6EB"/>
                </a:solidFill>
              </a:defRPr>
            </a:pPr>
            <a:r>
              <a:t>📱 Progressive Web App (PWA): Ultra-fast, installable mobile &amp; desktop responsive experience.</a:t>
            </a:r>
          </a:p>
          <a:p>
            <a:pPr>
              <a:spcBef>
                <a:spcPts val="800"/>
              </a:spcBef>
              <a:defRPr sz="1150">
                <a:solidFill>
                  <a:srgbClr val="F5E6EB"/>
                </a:solidFill>
              </a:defRPr>
            </a:pPr>
            <a:r>
              <a:t>⏳ Live Waitlist Engine: Real-time FIFO token queues for oversubscribed campus hostels.</a:t>
            </a:r>
          </a:p>
          <a:p>
            <a:pPr>
              <a:spcBef>
                <a:spcPts val="800"/>
              </a:spcBef>
              <a:defRPr sz="1150">
                <a:solidFill>
                  <a:srgbClr val="F5E6EB"/>
                </a:solidFill>
              </a:defRPr>
            </a:pPr>
            <a:r>
              <a:t>📞 24/7 Student Helpline: Direct 1-click dialer &amp; automated WhatsApp resolution (+91 98346 20537).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463040"/>
            <a:ext cx="5577840" cy="466344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st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3749039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EF08A"/>
                </a:solidFill>
              </a:defRPr>
            </a:pPr>
            <a:r>
              <a:t>🧠 Supercharged Campus AI 3.0</a:t>
            </a:r>
          </a:p>
          <a:p>
            <a:pPr>
              <a:spcBef>
                <a:spcPts val="400"/>
              </a:spcBef>
              <a:defRPr sz="1150">
                <a:solidFill>
                  <a:srgbClr val="F0E1E6"/>
                </a:solidFill>
              </a:defRPr>
            </a:pPr>
            <a:r>
              <a:t>• Natural Language Intent Parser for Marathi, Hindi, &amp; English queries.</a:t>
            </a:r>
          </a:p>
          <a:p>
            <a:pPr>
              <a:spcBef>
                <a:spcPts val="400"/>
              </a:spcBef>
              <a:defRPr sz="1150">
                <a:solidFill>
                  <a:srgbClr val="F0E1E6"/>
                </a:solidFill>
              </a:defRPr>
            </a:pPr>
            <a:r>
              <a:t>• Hyper-local Geolocation matching by distance to Sanjivani University gates.</a:t>
            </a:r>
          </a:p>
          <a:p>
            <a:pPr>
              <a:spcBef>
                <a:spcPts val="400"/>
              </a:spcBef>
              <a:defRPr sz="1150">
                <a:solidFill>
                  <a:srgbClr val="F0E1E6"/>
                </a:solidFill>
              </a:defRPr>
            </a:pPr>
            <a:r>
              <a:t>• Empathetic Student Wellbeing Engine for homesickness &amp; academic stress.</a:t>
            </a:r>
          </a:p>
          <a:p>
            <a:pPr>
              <a:spcBef>
                <a:spcPts val="400"/>
              </a:spcBef>
              <a:defRPr sz="1150">
                <a:solidFill>
                  <a:srgbClr val="F0E1E6"/>
                </a:solidFill>
              </a:defRPr>
            </a:pPr>
            <a:r>
              <a:t>• 5-Step Owner KYC Portal with warden identity &amp; room photo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Monetization: 4 Scalable B2B &amp; Micro-Transaction 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240C12"/>
                </a:solidFill>
              </a:defRPr>
            </a:pPr>
            <a:r>
              <a:t>🏢 1. Property Owner Success Fee (B2B)</a:t>
            </a:r>
          </a:p>
          <a:p>
            <a:pPr>
              <a:spcBef>
                <a:spcPts val="400"/>
              </a:spcBef>
              <a:defRPr sz="1300" b="1">
                <a:solidFill>
                  <a:srgbClr val="15803D"/>
                </a:solidFill>
              </a:defRPr>
            </a:pPr>
            <a:r>
              <a:t>Unit Economics: ₹500 – ₹1,000 / Filled Bed</a:t>
            </a:r>
          </a:p>
          <a:p>
            <a:pPr>
              <a:spcBef>
                <a:spcPts val="400"/>
              </a:spcBef>
              <a:defRPr sz="1150">
                <a:solidFill>
                  <a:srgbClr val="785A5F"/>
                </a:solidFill>
              </a:defRPr>
            </a:pPr>
            <a:r>
              <a:t>Hostel &amp; PG owners pay a flat success commission per confirmed move-in. 4x cheaper than traditional offline brokers who charge ₹4,000+.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240C12"/>
                </a:solidFill>
              </a:defRPr>
            </a:pPr>
            <a:r>
              <a:t>⭐ 2. Featured Spotlight Boosts (B2B)</a:t>
            </a:r>
          </a:p>
          <a:p>
            <a:pPr>
              <a:spcBef>
                <a:spcPts val="400"/>
              </a:spcBef>
              <a:defRPr sz="1300" b="1">
                <a:solidFill>
                  <a:srgbClr val="15803D"/>
                </a:solidFill>
              </a:defRPr>
            </a:pPr>
            <a:r>
              <a:t>Unit Economics: ₹1,500 – ₹3,000 / Month</a:t>
            </a:r>
          </a:p>
          <a:p>
            <a:pPr>
              <a:spcBef>
                <a:spcPts val="400"/>
              </a:spcBef>
              <a:defRPr sz="1150">
                <a:solidFill>
                  <a:srgbClr val="785A5F"/>
                </a:solidFill>
              </a:defRPr>
            </a:pPr>
            <a:r>
              <a:t>Guaranteed Top-3 search visibility, gold 'Verified Partner' badge, and priority NEST AI recommendations during peak admission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240C12"/>
                </a:solidFill>
              </a:defRPr>
            </a:pPr>
            <a:r>
              <a:t>🛡️ 3. Student Trust &amp; Move-In Fee (Micro B2C)</a:t>
            </a:r>
          </a:p>
          <a:p>
            <a:pPr>
              <a:spcBef>
                <a:spcPts val="400"/>
              </a:spcBef>
              <a:defRPr sz="1300" b="1">
                <a:solidFill>
                  <a:srgbClr val="15803D"/>
                </a:solidFill>
              </a:defRPr>
            </a:pPr>
            <a:r>
              <a:t>Unit Economics: ₹99 Flat on Move-In</a:t>
            </a:r>
          </a:p>
          <a:p>
            <a:pPr>
              <a:spcBef>
                <a:spcPts val="400"/>
              </a:spcBef>
              <a:defRPr sz="1150">
                <a:solidFill>
                  <a:srgbClr val="785A5F"/>
                </a:solidFill>
              </a:defRPr>
            </a:pPr>
            <a:r>
              <a:t>Nominal micro-fee for 100% Escrow deposit safety guarantee, dispute resolution, and instant downloadable legal Tenancy Agreement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240C12"/>
                </a:solidFill>
              </a:defRPr>
            </a:pPr>
            <a:r>
              <a:t>📲 4. NESTRO HostelOS SaaS (B2B)</a:t>
            </a:r>
          </a:p>
          <a:p>
            <a:pPr>
              <a:spcBef>
                <a:spcPts val="400"/>
              </a:spcBef>
              <a:defRPr sz="1300" b="1">
                <a:solidFill>
                  <a:srgbClr val="15803D"/>
                </a:solidFill>
              </a:defRPr>
            </a:pPr>
            <a:r>
              <a:t>Unit Economics: ₹499 – ₹799 / Month</a:t>
            </a:r>
          </a:p>
          <a:p>
            <a:pPr>
              <a:spcBef>
                <a:spcPts val="400"/>
              </a:spcBef>
              <a:defRPr sz="1150">
                <a:solidFill>
                  <a:srgbClr val="785A5F"/>
                </a:solidFill>
              </a:defRPr>
            </a:pPr>
            <a:r>
              <a:t>All-in-one software for hostel wardens: automated WhatsApp rent payment reminders, digital rent receipts, and biometric curfew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Market Opportunity &amp; Unfair Competitive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5B1526"/>
                </a:solidFill>
              </a:defRPr>
            </a:pPr>
            <a:r>
              <a:t>🎯 MARKET SIZE (TAM / SAM / SOM)</a:t>
            </a:r>
          </a:p>
          <a:p>
            <a:pPr>
              <a:spcBef>
                <a:spcPts val="1000"/>
              </a:spcBef>
              <a:defRPr sz="1350" b="1">
                <a:solidFill>
                  <a:srgbClr val="240C12"/>
                </a:solidFill>
              </a:defRPr>
            </a:pPr>
            <a:r>
              <a:t>TAM: $14 Billion (₹1.15 Lakh Cr)</a:t>
            </a:r>
          </a:p>
          <a:p>
            <a:pPr>
              <a:spcBef>
                <a:spcPts val="200"/>
              </a:spcBef>
              <a:defRPr sz="1150">
                <a:solidFill>
                  <a:srgbClr val="785A5F"/>
                </a:solidFill>
              </a:defRPr>
            </a:pPr>
            <a:r>
              <a:t>40 Million+ higher education students migrating across Indian university hubs.</a:t>
            </a:r>
          </a:p>
          <a:p>
            <a:pPr>
              <a:spcBef>
                <a:spcPts val="1000"/>
              </a:spcBef>
              <a:defRPr sz="1350" b="1">
                <a:solidFill>
                  <a:srgbClr val="240C12"/>
                </a:solidFill>
              </a:defRPr>
            </a:pPr>
            <a:r>
              <a:t>SAM: 3.2 Million Students</a:t>
            </a:r>
          </a:p>
          <a:p>
            <a:pPr>
              <a:spcBef>
                <a:spcPts val="200"/>
              </a:spcBef>
              <a:defRPr sz="1150">
                <a:solidFill>
                  <a:srgbClr val="785A5F"/>
                </a:solidFill>
              </a:defRPr>
            </a:pPr>
            <a:r>
              <a:t>Higher education student housing market across Maharashtra (Pune SPPU, Nashik, Shirdi, Mumbai).</a:t>
            </a:r>
          </a:p>
          <a:p>
            <a:pPr>
              <a:spcBef>
                <a:spcPts val="1000"/>
              </a:spcBef>
              <a:defRPr sz="1350" b="1">
                <a:solidFill>
                  <a:srgbClr val="240C12"/>
                </a:solidFill>
              </a:defRPr>
            </a:pPr>
            <a:r>
              <a:t>SOM (Phase 1 Target):</a:t>
            </a:r>
          </a:p>
          <a:p>
            <a:pPr>
              <a:spcBef>
                <a:spcPts val="200"/>
              </a:spcBef>
              <a:defRPr sz="1150">
                <a:solidFill>
                  <a:srgbClr val="785A5F"/>
                </a:solidFill>
              </a:defRPr>
            </a:pPr>
            <a:r>
              <a:t>150+ PGs and 5,000+ Student Beds in Sanjivani University &amp; Kopargaon educational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5B1526"/>
                </a:solidFill>
              </a:defRPr>
            </a:pPr>
            <a:r>
              <a:t>⚔️ WHY NESTRO DOMINATES COMPETITION</a:t>
            </a:r>
          </a:p>
          <a:p>
            <a:pPr>
              <a:spcBef>
                <a:spcPts val="800"/>
              </a:spcBef>
              <a:defRPr sz="1150">
                <a:solidFill>
                  <a:srgbClr val="240C12"/>
                </a:solidFill>
              </a:defRPr>
            </a:pPr>
            <a:r>
              <a:t>• 0% Student Brokerage</a:t>
            </a:r>
            <a:br/>
            <a:r>
              <a:t>   👉 NESTRO: ✅ ₹0   |   Brokers: ❌ ₹4,000+ fee</a:t>
            </a:r>
          </a:p>
          <a:p>
            <a:pPr>
              <a:spcBef>
                <a:spcPts val="800"/>
              </a:spcBef>
              <a:defRPr sz="1150">
                <a:solidFill>
                  <a:srgbClr val="240C12"/>
                </a:solidFill>
              </a:defRPr>
            </a:pPr>
            <a:r>
              <a:t>• Tier-2/3 College Town Focus</a:t>
            </a:r>
            <a:br/>
            <a:r>
              <a:t>   👉 NESTRO: ✅ 100% Hyper-local   |   MagicBricks/99acres: ❌ Metro only</a:t>
            </a:r>
          </a:p>
          <a:p>
            <a:pPr>
              <a:spcBef>
                <a:spcPts val="800"/>
              </a:spcBef>
              <a:defRPr sz="1150">
                <a:solidFill>
                  <a:srgbClr val="240C12"/>
                </a:solidFill>
              </a:defRPr>
            </a:pPr>
            <a:r>
              <a:t>• Walking Dist to Campus Gates</a:t>
            </a:r>
            <a:br/>
            <a:r>
              <a:t>   👉 NESTRO: ✅ Verified in meters   |   NoBroker: ❌ City-level only</a:t>
            </a:r>
          </a:p>
          <a:p>
            <a:pPr>
              <a:spcBef>
                <a:spcPts val="800"/>
              </a:spcBef>
              <a:defRPr sz="1150">
                <a:solidFill>
                  <a:srgbClr val="240C12"/>
                </a:solidFill>
              </a:defRPr>
            </a:pPr>
            <a:r>
              <a:t>• Escrow Deposit Security</a:t>
            </a:r>
            <a:br/>
            <a:r>
              <a:t>   👉 NESTRO: ✅ Bank-Grade Vault   |   Offline: ❌ Zero deposit safety</a:t>
            </a:r>
          </a:p>
          <a:p>
            <a:pPr>
              <a:spcBef>
                <a:spcPts val="800"/>
              </a:spcBef>
              <a:defRPr sz="1150">
                <a:solidFill>
                  <a:srgbClr val="240C12"/>
                </a:solidFill>
              </a:defRPr>
            </a:pPr>
            <a:r>
              <a:t>• Multilingual AI Matchmaker</a:t>
            </a:r>
            <a:br/>
            <a:r>
              <a:t>   👉 NESTRO: ✅ NEST AI 3.0   |   Competitors: ❌ Keyword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FB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B1526"/>
                </a:solidFill>
              </a:defRPr>
            </a:pPr>
            <a:r>
              <a:t>🏆 EUREKA 2026 · SANJIVANI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40C12"/>
                </a:solidFill>
              </a:defRPr>
            </a:pPr>
            <a:r>
              <a:t>Execution Roadmap: Scaling From Sanjivani to 50+ Campuses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5B1526"/>
                </a:solidFill>
              </a:defRPr>
            </a:pPr>
            <a:r>
              <a:t>Phase 1: Hyper-Local Pilot (Q1-Q2 2026)</a:t>
            </a:r>
          </a:p>
          <a:p>
            <a:pPr>
              <a:spcBef>
                <a:spcPts val="400"/>
              </a:spcBef>
              <a:defRPr sz="1200" b="1">
                <a:solidFill>
                  <a:srgbClr val="15803D"/>
                </a:solidFill>
              </a:defRPr>
            </a:pPr>
            <a:r>
              <a:t>📍 Sanjivani University &amp; Kopargaon</a:t>
            </a:r>
          </a:p>
          <a:p>
            <a:pPr>
              <a:spcBef>
                <a:spcPts val="1200"/>
              </a:spcBef>
              <a:defRPr sz="1200">
                <a:solidFill>
                  <a:srgbClr val="785A5F"/>
                </a:solidFill>
              </a:defRPr>
            </a:pPr>
            <a:r>
              <a:t>• 100% Onboarding of 150+ local PGs and Hostels.</a:t>
            </a:r>
            <a:br/>
            <a:r>
              <a:t>• 500+ Confirmed student move-in bookings.</a:t>
            </a:r>
            <a:br/>
            <a:r>
              <a:t>• Establish Escrow Trust &amp; Warden HostelOS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5B1526"/>
                </a:solidFill>
              </a:defRPr>
            </a:pPr>
            <a:r>
              <a:t>Phase 2: Regional Hubs (Q3-Q4 2026)</a:t>
            </a:r>
          </a:p>
          <a:p>
            <a:pPr>
              <a:spcBef>
                <a:spcPts val="400"/>
              </a:spcBef>
              <a:defRPr sz="1200" b="1">
                <a:solidFill>
                  <a:srgbClr val="15803D"/>
                </a:solidFill>
              </a:defRPr>
            </a:pPr>
            <a:r>
              <a:t>📍 Nashik, Shirdi &amp; Ahmednagar Campuses</a:t>
            </a:r>
          </a:p>
          <a:p>
            <a:pPr>
              <a:spcBef>
                <a:spcPts val="1200"/>
              </a:spcBef>
              <a:defRPr sz="1200">
                <a:solidFill>
                  <a:srgbClr val="785A5F"/>
                </a:solidFill>
              </a:defRPr>
            </a:pPr>
            <a:r>
              <a:t>• Expand to 15+ Engineering, MBA &amp; Medical colleges.</a:t>
            </a:r>
            <a:br/>
            <a:r>
              <a:t>• 2,500+ Active student bed listings on platform.</a:t>
            </a:r>
            <a:br/>
            <a:r>
              <a:t>• Deploy automated WhatsApp warden rent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1071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8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5B1526"/>
                </a:solidFill>
              </a:defRPr>
            </a:pPr>
            <a:r>
              <a:t>Phase 3: State Rollout (2027)</a:t>
            </a:r>
          </a:p>
          <a:p>
            <a:pPr>
              <a:spcBef>
                <a:spcPts val="400"/>
              </a:spcBef>
              <a:defRPr sz="1200" b="1">
                <a:solidFill>
                  <a:srgbClr val="15803D"/>
                </a:solidFill>
              </a:defRPr>
            </a:pPr>
            <a:r>
              <a:t>📍 Pune SPPU &amp; 50+ Maharashtra Hubs</a:t>
            </a:r>
          </a:p>
          <a:p>
            <a:pPr>
              <a:spcBef>
                <a:spcPts val="1200"/>
              </a:spcBef>
              <a:defRPr sz="1200">
                <a:solidFill>
                  <a:srgbClr val="785A5F"/>
                </a:solidFill>
              </a:defRPr>
            </a:pPr>
            <a:r>
              <a:t>• Scale to Pune University, PCMC, Aurangabad &amp; Nagpur.</a:t>
            </a:r>
            <a:br/>
            <a:r>
              <a:t>• 20,000+ Students housed with zero brokerage.</a:t>
            </a:r>
            <a:br/>
            <a:r>
              <a:t>• Formal institutional MoUs with universities.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EF08A"/>
                </a:solidFill>
              </a:defRPr>
            </a:pPr>
            <a:r>
              <a:t>⚡ TEAM VELORA  (Velocity + Aura)</a:t>
            </a:r>
          </a:p>
          <a:p>
            <a:pPr>
              <a:spcBef>
                <a:spcPts val="300"/>
              </a:spcBef>
              <a:defRPr sz="2000" b="1">
                <a:solidFill>
                  <a:srgbClr val="FFFFFF"/>
                </a:solidFill>
              </a:defRPr>
            </a:pPr>
            <a:r>
              <a:t>Integrated M.Tech in AI-ML (First Year) · Sanjivani University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566160" cy="128016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👤 Samruddhi Rajesh Gangad</a:t>
            </a:r>
          </a:p>
          <a:p>
            <a:pPr>
              <a:spcBef>
                <a:spcPts val="300"/>
              </a:spcBef>
              <a:defRPr sz="1050">
                <a:solidFill>
                  <a:srgbClr val="DCC8CD"/>
                </a:solidFill>
              </a:defRPr>
            </a:pPr>
            <a:r>
              <a:t>👑 Team Leader &amp; UX / Product Design Lead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828800"/>
            <a:ext cx="3566160" cy="128016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👤 Pratik Thorat</a:t>
            </a:r>
          </a:p>
          <a:p>
            <a:pPr>
              <a:spcBef>
                <a:spcPts val="300"/>
              </a:spcBef>
              <a:defRPr sz="1050">
                <a:solidFill>
                  <a:srgbClr val="DCC8CD"/>
                </a:solidFill>
              </a:defRPr>
            </a:pPr>
            <a:r>
              <a:t>💻 Full-Stack Developer &amp; AI / Technical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566160" cy="128016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👤 Kirti Honde</a:t>
            </a:r>
          </a:p>
          <a:p>
            <a:pPr>
              <a:spcBef>
                <a:spcPts val="300"/>
              </a:spcBef>
              <a:defRPr sz="1050">
                <a:solidFill>
                  <a:srgbClr val="DCC8CD"/>
                </a:solidFill>
              </a:defRPr>
            </a:pPr>
            <a:r>
              <a:t>📊 Market Analysis &amp; Student Relations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3291840"/>
            <a:ext cx="3566160" cy="1280160"/>
          </a:xfrm>
          <a:prstGeom prst="roundRect">
            <a:avLst/>
          </a:prstGeom>
          <a:solidFill>
            <a:srgbClr val="240C12"/>
          </a:solidFill>
          <a:ln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👤 Parth Pachpute</a:t>
            </a:r>
          </a:p>
          <a:p>
            <a:pPr>
              <a:spcBef>
                <a:spcPts val="300"/>
              </a:spcBef>
              <a:defRPr sz="1050">
                <a:solidFill>
                  <a:srgbClr val="DCC8CD"/>
                </a:solidFill>
              </a:defRPr>
            </a:pPr>
            <a:r>
              <a:t>🏢 Operations &amp; Host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57200"/>
            <a:ext cx="3017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stro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3063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1526"/>
                </a:solidFill>
              </a:defRPr>
            </a:pPr>
            <a:r>
              <a:t>📲 SCAN WITH PHONE CAMERA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5803D"/>
                </a:solidFill>
              </a:defRPr>
            </a:pPr>
            <a:r>
              <a:t>https://nestro.web.app/</a:t>
            </a:r>
          </a:p>
          <a:p>
            <a:pPr algn="ctr">
              <a:spcBef>
                <a:spcPts val="300"/>
              </a:spcBef>
              <a:defRPr sz="950">
                <a:solidFill>
                  <a:srgbClr val="785A5F"/>
                </a:solidFill>
              </a:defRPr>
            </a:pPr>
            <a:r>
              <a:t>Test live Firestore database, NEST AI &amp; instant booking right now!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LIVE APP: https://nestro.web.app/   |   ✉️ nestrosupport@gmail.com   |   📞 +91 98346 20537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